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spcAft>
                <a:spcPts val="0"/>
              </a:spcAft>
              <a:defRPr sz="7200" b="0">
                <a:solidFill>
                  <a:srgbClr val="FFFFFF"/>
                </a:solidFill>
                <a:latin typeface="Segoe UI Light"/>
              </a:defRPr>
            </a:pPr>
            <a:r>
              <a:t>VizPlug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Segoe UI Semibold"/>
              </a:defRPr>
            </a:pPr>
            <a:r>
              <a:t>Plug-and-Play Visualizations for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20624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DDEE"/>
                </a:solidFill>
                <a:latin typeface="Segoe UI Light"/>
              </a:defRPr>
            </a:pPr>
            <a:r>
              <a:t>Bring rich, interactive charts to any custom agent — with zero visualization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0078D4"/>
                </a:solidFill>
                <a:latin typeface="Segoe UI Semibold"/>
              </a:defRPr>
            </a:pPr>
            <a:r>
              <a:t>Why VizPlug?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286000" cy="45720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✖  Declarative Agents (BizChat) have built-in code interpreter for rich visualizations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✖  Custom engine agents — where you bring your own orchestrator and models — lack this entirely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✖  Teams must build visualization pipelines from scratch: data transformation, chart selection, rendering, embedding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✖  Increases development time, complexity, and ongoing maintenance burden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228600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✔  VizPlug: a modular, plug-and-play visualization engine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✔  Agent-agnostic — works with any orchestrator and model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✔  Automatically detects structured data, selects chart types, and renders interactive visualizations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✔  Decouples visualization logic from 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937760"/>
            <a:ext cx="502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0078D4"/>
                </a:solidFill>
                <a:latin typeface="Segoe UI Light"/>
              </a:defRPr>
            </a:pPr>
            <a:r>
              <a:t>“Focus on model intelligence —</a:t>
            </a:r>
            <a:br/>
            <a:r>
              <a:t>VizPlug handles presentation intelligence.”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E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spcAft>
                <a:spcPts val="0"/>
              </a:spcAft>
              <a:defRPr sz="6000" b="0">
                <a:solidFill>
                  <a:srgbClr val="FFFFFF"/>
                </a:solidFill>
                <a:latin typeface="Segoe UI Light"/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0116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  <a:defRPr sz="2200">
                <a:solidFill>
                  <a:srgbClr val="DDEEFF"/>
                </a:solidFill>
                <a:latin typeface="Segoe UI"/>
              </a:defRPr>
            </a:pPr>
            <a:r>
              <a:t>“Show me revenue by region for 2025”</a:t>
            </a:r>
          </a:p>
          <a:p>
            <a:pPr>
              <a:lnSpc>
                <a:spcPct val="120000"/>
              </a:lnSpc>
              <a:spcAft>
                <a:spcPts val="1800"/>
              </a:spcAft>
              <a:defRPr sz="2200">
                <a:solidFill>
                  <a:srgbClr val="DDEEFF"/>
                </a:solidFill>
                <a:latin typeface="Segoe UI"/>
              </a:defRPr>
            </a:pPr>
            <a:r>
              <a:t>“What’s the monthly revenue trend?”</a:t>
            </a:r>
          </a:p>
          <a:p>
            <a:pPr>
              <a:lnSpc>
                <a:spcPct val="120000"/>
              </a:lnSpc>
              <a:spcAft>
                <a:spcPts val="1800"/>
              </a:spcAft>
              <a:defRPr sz="2200">
                <a:solidFill>
                  <a:srgbClr val="DDEEFF"/>
                </a:solidFill>
                <a:latin typeface="Segoe UI"/>
              </a:defRPr>
            </a:pPr>
            <a:r>
              <a:t>“Compare our top 5 salespeople”</a:t>
            </a:r>
          </a:p>
          <a:p>
            <a:pPr>
              <a:lnSpc>
                <a:spcPct val="120000"/>
              </a:lnSpc>
              <a:spcAft>
                <a:spcPts val="1800"/>
              </a:spcAft>
              <a:defRPr sz="2200">
                <a:solidFill>
                  <a:srgbClr val="DDEEFF"/>
                </a:solidFill>
                <a:latin typeface="Segoe UI"/>
              </a:defRPr>
            </a:pPr>
            <a:r>
              <a:t>“Break down revenue by product category”</a:t>
            </a:r>
          </a:p>
          <a:p>
            <a:pPr>
              <a:lnSpc>
                <a:spcPct val="120000"/>
              </a:lnSpc>
              <a:spcAft>
                <a:spcPts val="1800"/>
              </a:spcAft>
              <a:defRPr sz="2200">
                <a:solidFill>
                  <a:srgbClr val="DDEEFF"/>
                </a:solidFill>
                <a:latin typeface="Segoe UI"/>
              </a:defRPr>
            </a:pPr>
            <a:r>
              <a:t>“Show the sales pipeline funnel”</a:t>
            </a:r>
          </a:p>
          <a:p>
            <a:pPr>
              <a:lnSpc>
                <a:spcPct val="120000"/>
              </a:lnSpc>
              <a:spcAft>
                <a:spcPts val="1800"/>
              </a:spcAft>
              <a:defRPr sz="2200">
                <a:solidFill>
                  <a:srgbClr val="DDEEFF"/>
                </a:solidFill>
                <a:latin typeface="Segoe UI"/>
              </a:defRPr>
            </a:pPr>
            <a:r>
              <a:t>“How does customer satisfaction vary across regions?”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0078D4"/>
                </a:solidFill>
                <a:latin typeface="Segoe UI Semibold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Segoe UI"/>
              </a:defRPr>
            </a:pPr>
            <a:r>
              <a:t>How a natural language query becomes an interactive 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2286000"/>
            <a:ext cx="2286000" cy="2743200"/>
          </a:xfrm>
          <a:prstGeom prst="roundRect">
            <a:avLst/>
          </a:prstGeom>
          <a:solidFill>
            <a:srgbClr val="50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247" y="26974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847" y="2286000"/>
            <a:ext cx="2286000" cy="2743200"/>
          </a:xfrm>
          <a:prstGeom prst="round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52847" y="35204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Segoe UI Semibold"/>
              </a:defRPr>
            </a:pPr>
            <a:r>
              <a:t>VizPlug MCP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0447" y="2286000"/>
            <a:ext cx="2286000" cy="2743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0447" y="35204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Segoe UI Semibold"/>
              </a:defRPr>
            </a:pPr>
            <a:r>
              <a:t>Python Sandbox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04975" y="3657600"/>
            <a:ext cx="2066544" cy="1261872"/>
          </a:xfrm>
          <a:prstGeom prst="roundRect">
            <a:avLst/>
          </a:prstGeom>
          <a:solidFill>
            <a:srgbClr val="5A5A6C"/>
          </a:solidFill>
          <a:ln w="19050">
            <a:solidFill>
              <a:srgbClr val="B4B4C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78127" y="3694176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CCCCDD"/>
                </a:solidFill>
                <a:latin typeface="Segoe UI Semibold"/>
              </a:defRPr>
            </a:pPr>
            <a:r>
              <a:t>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99919" y="4484675"/>
            <a:ext cx="128016" cy="297637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2799" y="4314597"/>
            <a:ext cx="128016" cy="467715"/>
          </a:xfrm>
          <a:prstGeom prst="roundRect">
            <a:avLst/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65679" y="4425148"/>
            <a:ext cx="128016" cy="357164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48559" y="4144518"/>
            <a:ext cx="128016" cy="637794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32407" y="1783080"/>
            <a:ext cx="2011680" cy="320040"/>
          </a:xfrm>
          <a:prstGeom prst="roundRect">
            <a:avLst/>
          </a:prstGeom>
          <a:solidFill>
            <a:srgbClr val="F2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  <a:latin typeface="Segoe UI"/>
              </a:defRPr>
            </a:pPr>
            <a:r>
              <a:t>“Revenue by region?”</a:t>
            </a:r>
          </a:p>
        </p:txBody>
      </p:sp>
      <p:sp>
        <p:nvSpPr>
          <p:cNvPr id="18" name="Isosceles Triangle 17"/>
          <p:cNvSpPr/>
          <p:nvPr/>
        </p:nvSpPr>
        <p:spPr>
          <a:xfrm rot="10800000">
            <a:off x="2383383" y="2090420"/>
            <a:ext cx="109728" cy="109728"/>
          </a:xfrm>
          <a:prstGeom prst="triangle">
            <a:avLst/>
          </a:prstGeom>
          <a:solidFill>
            <a:srgbClr val="F2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3636111" y="2971800"/>
            <a:ext cx="1261872" cy="164592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39031" y="2706624"/>
            <a:ext cx="256032" cy="25603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1247" y="2523744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Segoe UI"/>
              </a:defRPr>
            </a:pPr>
            <a:r>
              <a:t>generate_chart(code)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93711" y="2971800"/>
            <a:ext cx="1261872" cy="164592"/>
          </a:xfrm>
          <a:prstGeom prst="rightArrow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96631" y="2706624"/>
            <a:ext cx="256032" cy="256032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8847" y="2523744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Segoe UI"/>
              </a:defRPr>
            </a:pPr>
            <a:r>
              <a:t>Python code</a:t>
            </a:r>
          </a:p>
        </p:txBody>
      </p:sp>
      <p:sp>
        <p:nvSpPr>
          <p:cNvPr id="25" name="Right Arrow 24"/>
          <p:cNvSpPr/>
          <p:nvPr/>
        </p:nvSpPr>
        <p:spPr>
          <a:xfrm rot="10800000">
            <a:off x="7293711" y="4178808"/>
            <a:ext cx="1261872" cy="164592"/>
          </a:xfrm>
          <a:prstGeom prst="rightArrow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96631" y="4370832"/>
            <a:ext cx="256032" cy="25603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8847" y="4652264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Segoe UI"/>
              </a:defRPr>
            </a:pPr>
            <a:r>
              <a:t>chart.png + chart.json</a:t>
            </a:r>
          </a:p>
        </p:txBody>
      </p:sp>
      <p:sp>
        <p:nvSpPr>
          <p:cNvPr id="28" name="Right Arrow 27"/>
          <p:cNvSpPr/>
          <p:nvPr/>
        </p:nvSpPr>
        <p:spPr>
          <a:xfrm rot="10800000">
            <a:off x="3636111" y="4178808"/>
            <a:ext cx="1261872" cy="164592"/>
          </a:xfrm>
          <a:prstGeom prst="rightArrow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39031" y="4370832"/>
            <a:ext cx="256032" cy="256032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1247" y="4652264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Segoe UI"/>
              </a:defRPr>
            </a:pPr>
            <a:r>
              <a:t>PNG + Plotly 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57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 Agent writes Python code using Plotly Express — VizPlug executes it in an isolated sandbox</a:t>
            </a:r>
          </a:p>
          <a:p>
            <a:pPr>
              <a:lnSpc>
                <a:spcPct val="130000"/>
              </a:lnSpc>
              <a:spcAft>
                <a:spcPts val="2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 Dual output: static PNG (for chat) + interactive JSON (for rich rendering)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0078D4"/>
                </a:solidFill>
                <a:latin typeface="Segoe UI Semibold"/>
              </a:defRPr>
            </a:pPr>
            <a:r>
              <a:t>Integration &amp;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333333"/>
                </a:solidFill>
                <a:latin typeface="Segoe UI Semibold"/>
              </a:defRPr>
            </a:pPr>
            <a:r>
              <a:t>3-Step Integration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 Semibold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1168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Connect VizPlug</a:t>
            </a:r>
            <a:br/>
            <a:r>
              <a:t>MCP server</a:t>
            </a:r>
          </a:p>
        </p:txBody>
      </p:sp>
      <p:sp>
        <p:nvSpPr>
          <p:cNvPr id="7" name="Oval 6"/>
          <p:cNvSpPr/>
          <p:nvPr/>
        </p:nvSpPr>
        <p:spPr>
          <a:xfrm>
            <a:off x="4206240" y="2103120"/>
            <a:ext cx="548640" cy="54864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 Semibold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01168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Agent discovers</a:t>
            </a:r>
            <a:br/>
            <a:r>
              <a:t>generate_chart tool</a:t>
            </a:r>
          </a:p>
        </p:txBody>
      </p:sp>
      <p:sp>
        <p:nvSpPr>
          <p:cNvPr id="9" name="Oval 8"/>
          <p:cNvSpPr/>
          <p:nvPr/>
        </p:nvSpPr>
        <p:spPr>
          <a:xfrm>
            <a:off x="7680960" y="210312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 Semibold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01168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Charts auto-generated</a:t>
            </a:r>
            <a:br/>
            <a:r>
              <a:t>— no viz code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333333"/>
                </a:solidFill>
                <a:latin typeface="Segoe UI Semibold"/>
              </a:defRPr>
            </a:pPr>
            <a:r>
              <a:t>Capabilities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20040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3200400" cy="635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1500" b="1">
                <a:solidFill>
                  <a:srgbClr val="0078D4"/>
                </a:solidFill>
                <a:latin typeface="Segoe UI Semibold"/>
              </a:defRPr>
            </a:pPr>
            <a:r>
              <a:t>38+ Chart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09160"/>
            <a:ext cx="29260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Segoe UI"/>
              </a:defRPr>
            </a:pPr>
            <a:r>
              <a:t>Bar, line, scatter, pie,</a:t>
            </a:r>
            <a:br/>
            <a:r>
              <a:t>heatmap, funnel, treemap,</a:t>
            </a:r>
            <a:br/>
            <a:r>
              <a:t>sunburst, and more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114800"/>
            <a:ext cx="320040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4114800"/>
            <a:ext cx="3200400" cy="6350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2976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1500" b="1">
                <a:solidFill>
                  <a:srgbClr val="004E8C"/>
                </a:solidFill>
                <a:latin typeface="Segoe UI Semibold"/>
              </a:defRPr>
            </a:pPr>
            <a:r>
              <a:t>Dual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709160"/>
            <a:ext cx="29260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Segoe UI"/>
              </a:defRPr>
            </a:pPr>
            <a:r>
              <a:t>Static PNG for chat</a:t>
            </a:r>
            <a:br/>
            <a:r>
              <a:t>+ interactive JSON</a:t>
            </a:r>
            <a:br/>
            <a:r>
              <a:t>for rich rendering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4114800"/>
            <a:ext cx="320040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80" y="4114800"/>
            <a:ext cx="3200400" cy="635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42976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1500" b="1">
                <a:solidFill>
                  <a:srgbClr val="107C10"/>
                </a:solidFill>
                <a:latin typeface="Segoe UI Semibold"/>
              </a:defRPr>
            </a:pPr>
            <a:r>
              <a:t>Data Transform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709160"/>
            <a:ext cx="29260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Segoe UI"/>
              </a:defRPr>
            </a:pPr>
            <a:r>
              <a:t>Built-in data cleaning,</a:t>
            </a:r>
            <a:br/>
            <a:r>
              <a:t>aggregation, and</a:t>
            </a:r>
            <a:br/>
            <a:r>
              <a:t>transformation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spcAft>
                <a:spcPts val="0"/>
              </a:spcAft>
              <a:defRPr sz="6000" b="0">
                <a:solidFill>
                  <a:srgbClr val="FFFFFF"/>
                </a:solidFill>
                <a:latin typeface="Segoe UI Ligh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AACCEE"/>
                </a:solidFill>
                <a:latin typeface="Segoe UI Light"/>
              </a:defRPr>
            </a:pPr>
            <a:r>
              <a:t>VizPlug — Presentation intelligence for every AI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